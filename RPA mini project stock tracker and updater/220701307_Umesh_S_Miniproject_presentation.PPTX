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6"/>
  </p:notesMasterIdLst>
  <p:handoutMasterIdLst>
    <p:handoutMasterId r:id="rId27"/>
  </p:handoutMasterIdLst>
  <p:sldIdLst>
    <p:sldId id="280" r:id="rId2"/>
    <p:sldId id="366" r:id="rId3"/>
    <p:sldId id="380" r:id="rId4"/>
    <p:sldId id="383" r:id="rId5"/>
    <p:sldId id="384" r:id="rId6"/>
    <p:sldId id="385" r:id="rId7"/>
    <p:sldId id="386" r:id="rId8"/>
    <p:sldId id="387" r:id="rId9"/>
    <p:sldId id="400" r:id="rId10"/>
    <p:sldId id="388" r:id="rId11"/>
    <p:sldId id="389" r:id="rId12"/>
    <p:sldId id="390" r:id="rId13"/>
    <p:sldId id="401" r:id="rId14"/>
    <p:sldId id="391" r:id="rId15"/>
    <p:sldId id="392" r:id="rId16"/>
    <p:sldId id="403" r:id="rId17"/>
    <p:sldId id="402" r:id="rId18"/>
    <p:sldId id="393" r:id="rId19"/>
    <p:sldId id="394" r:id="rId20"/>
    <p:sldId id="398" r:id="rId21"/>
    <p:sldId id="395" r:id="rId22"/>
    <p:sldId id="397" r:id="rId23"/>
    <p:sldId id="399" r:id="rId24"/>
    <p:sldId id="281"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88" autoAdjust="0"/>
    <p:restoredTop sz="94364" autoAdjust="0"/>
  </p:normalViewPr>
  <p:slideViewPr>
    <p:cSldViewPr>
      <p:cViewPr>
        <p:scale>
          <a:sx n="75" d="100"/>
          <a:sy n="75" d="100"/>
        </p:scale>
        <p:origin x="1781" y="11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1789443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14</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13509326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18</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19</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20</a:t>
            </a:fld>
            <a:endParaRPr lang="en-US"/>
          </a:p>
        </p:txBody>
      </p:sp>
    </p:spTree>
    <p:extLst>
      <p:ext uri="{BB962C8B-B14F-4D97-AF65-F5344CB8AC3E}">
        <p14:creationId xmlns:p14="http://schemas.microsoft.com/office/powerpoint/2010/main" val="31746253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21</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22</a:t>
            </a:fld>
            <a:endParaRPr lang="en-US" dirty="0"/>
          </a:p>
        </p:txBody>
      </p:sp>
    </p:spTree>
    <p:extLst>
      <p:ext uri="{BB962C8B-B14F-4D97-AF65-F5344CB8AC3E}">
        <p14:creationId xmlns:p14="http://schemas.microsoft.com/office/powerpoint/2010/main" val="27174021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23</a:t>
            </a:fld>
            <a:endParaRPr lang="en-US" dirty="0"/>
          </a:p>
        </p:txBody>
      </p:sp>
    </p:spTree>
    <p:extLst>
      <p:ext uri="{BB962C8B-B14F-4D97-AF65-F5344CB8AC3E}">
        <p14:creationId xmlns:p14="http://schemas.microsoft.com/office/powerpoint/2010/main" val="32076749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24</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5.jp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11.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14748" y="986564"/>
            <a:ext cx="9158748" cy="6072310"/>
            <a:chOff x="-14748" y="986564"/>
            <a:chExt cx="9158748" cy="6072310"/>
          </a:xfrm>
        </p:grpSpPr>
        <p:sp>
          <p:nvSpPr>
            <p:cNvPr id="22" name="TextBox 21"/>
            <p:cNvSpPr txBox="1"/>
            <p:nvPr/>
          </p:nvSpPr>
          <p:spPr>
            <a:xfrm>
              <a:off x="177781" y="4812105"/>
              <a:ext cx="4322209" cy="2246769"/>
            </a:xfrm>
            <a:prstGeom prst="rect">
              <a:avLst/>
            </a:prstGeom>
            <a:noFill/>
          </p:spPr>
          <p:txBody>
            <a:bodyPr wrap="square" rtlCol="0">
              <a:spAutoFit/>
            </a:bodyPr>
            <a:lstStyle/>
            <a:p>
              <a:r>
                <a:rPr lang="en-US" sz="2000" b="1" dirty="0"/>
                <a:t>220701307</a:t>
              </a:r>
            </a:p>
            <a:p>
              <a:r>
                <a:rPr lang="en-US" sz="2000" b="1" dirty="0"/>
                <a:t>Umesh Subramanian S</a:t>
              </a:r>
            </a:p>
            <a:p>
              <a:r>
                <a:rPr lang="en-US" sz="2000" b="1" dirty="0"/>
                <a:t>Guide: </a:t>
              </a:r>
              <a:r>
                <a:rPr lang="en-US" sz="1800" b="1" dirty="0">
                  <a:effectLst/>
                  <a:latin typeface="Times New Roman" panose="02020603050405020304" pitchFamily="18" charset="0"/>
                  <a:ea typeface="Times New Roman" panose="02020603050405020304" pitchFamily="18" charset="0"/>
                </a:rPr>
                <a:t>Ms. </a:t>
              </a:r>
              <a:r>
                <a:rPr lang="en-US" sz="1800" b="1" dirty="0" err="1">
                  <a:effectLst/>
                  <a:latin typeface="Times New Roman" panose="02020603050405020304" pitchFamily="18" charset="0"/>
                  <a:ea typeface="Times New Roman" panose="02020603050405020304" pitchFamily="18" charset="0"/>
                </a:rPr>
                <a:t>U.Farjana</a:t>
              </a:r>
              <a:r>
                <a:rPr lang="en-US" sz="1800" b="1" dirty="0">
                  <a:effectLst/>
                  <a:latin typeface="Times New Roman" panose="02020603050405020304" pitchFamily="18" charset="0"/>
                  <a:ea typeface="Times New Roman" panose="02020603050405020304" pitchFamily="18" charset="0"/>
                </a:rPr>
                <a:t>, </a:t>
              </a:r>
              <a:r>
                <a:rPr lang="en-US" sz="1800" b="1" dirty="0" err="1">
                  <a:effectLst/>
                  <a:latin typeface="Times New Roman" panose="02020603050405020304" pitchFamily="18" charset="0"/>
                  <a:ea typeface="Times New Roman" panose="02020603050405020304" pitchFamily="18" charset="0"/>
                </a:rPr>
                <a:t>M.Tech</a:t>
              </a:r>
              <a:r>
                <a:rPr lang="en-US" sz="1800" b="1" dirty="0">
                  <a:effectLst/>
                  <a:latin typeface="Times New Roman" panose="02020603050405020304" pitchFamily="18" charset="0"/>
                  <a:ea typeface="Times New Roman" panose="02020603050405020304" pitchFamily="18" charset="0"/>
                </a:rPr>
                <a:t>.</a:t>
              </a:r>
              <a:endParaRPr lang="en-US" sz="2000" b="1" dirty="0"/>
            </a:p>
            <a:p>
              <a:r>
                <a:rPr lang="en-US" sz="2000" b="1" dirty="0"/>
                <a:t>Assistant Professor</a:t>
              </a:r>
            </a:p>
            <a:p>
              <a:r>
                <a:rPr lang="en-US" sz="2000" b="1" dirty="0"/>
                <a:t>Department of Computer Science and Engineering</a:t>
              </a:r>
            </a:p>
            <a:p>
              <a:endParaRPr lang="en-US" sz="2000" b="1" dirty="0"/>
            </a:p>
          </p:txBody>
        </p:sp>
        <p:grpSp>
          <p:nvGrpSpPr>
            <p:cNvPr id="43" name="Group 42"/>
            <p:cNvGrpSpPr/>
            <p:nvPr/>
          </p:nvGrpSpPr>
          <p:grpSpPr>
            <a:xfrm>
              <a:off x="-14748" y="986564"/>
              <a:ext cx="9158748" cy="4530659"/>
              <a:chOff x="-14748" y="986564"/>
              <a:chExt cx="9158748" cy="4530659"/>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177782" y="2100903"/>
                <a:ext cx="4188156" cy="3416320"/>
              </a:xfrm>
              <a:prstGeom prst="rect">
                <a:avLst/>
              </a:prstGeom>
              <a:noFill/>
            </p:spPr>
            <p:txBody>
              <a:bodyPr wrap="square" rtlCol="0">
                <a:spAutoFit/>
              </a:bodyPr>
              <a:lstStyle/>
              <a:p>
                <a:r>
                  <a:rPr lang="en-US" sz="5400" b="1" dirty="0">
                    <a:solidFill>
                      <a:schemeClr val="bg1"/>
                    </a:solidFill>
                    <a:ea typeface="Open Sans Bold" panose="020B0806030504020204" pitchFamily="34" charset="0"/>
                    <a:cs typeface="Open Sans Bold" panose="020B0806030504020204" pitchFamily="34" charset="0"/>
                  </a:rPr>
                  <a:t>Stock price </a:t>
                </a:r>
                <a:r>
                  <a:rPr lang="en-US" sz="5400" b="1" dirty="0" err="1">
                    <a:solidFill>
                      <a:schemeClr val="bg1"/>
                    </a:solidFill>
                    <a:ea typeface="Open Sans Bold" panose="020B0806030504020204" pitchFamily="34" charset="0"/>
                    <a:cs typeface="Open Sans Bold" panose="020B0806030504020204" pitchFamily="34" charset="0"/>
                  </a:rPr>
                  <a:t>traker</a:t>
                </a:r>
                <a:r>
                  <a:rPr lang="en-US" sz="5400" b="1" dirty="0">
                    <a:solidFill>
                      <a:schemeClr val="bg1"/>
                    </a:solidFill>
                    <a:ea typeface="Open Sans Bold" panose="020B0806030504020204" pitchFamily="34" charset="0"/>
                    <a:cs typeface="Open Sans Bold" panose="020B0806030504020204" pitchFamily="34" charset="0"/>
                  </a:rPr>
                  <a:t> and updater</a:t>
                </a:r>
              </a:p>
              <a:p>
                <a:endParaRPr lang="en-US" sz="5400" b="1" dirty="0">
                  <a:solidFill>
                    <a:schemeClr val="bg1"/>
                  </a:solidFill>
                  <a:ea typeface="Open Sans Bold" panose="020B0806030504020204" pitchFamily="34" charset="0"/>
                  <a:cs typeface="Open Sans Bold" panose="020B0806030504020204" pitchFamily="34" charset="0"/>
                </a:endParaRP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3" name="Content Placeholder 2"/>
          <p:cNvSpPr>
            <a:spLocks noGrp="1"/>
          </p:cNvSpPr>
          <p:nvPr>
            <p:ph idx="1"/>
          </p:nvPr>
        </p:nvSpPr>
        <p:spPr/>
        <p:txBody>
          <a:bodyPr>
            <a:normAutofit/>
          </a:bodyPr>
          <a:lstStyle/>
          <a:p>
            <a:pPr marL="0" indent="0">
              <a:buNone/>
            </a:pPr>
            <a:r>
              <a:rPr lang="en-US" dirty="0"/>
              <a:t>This project automates stock price tracking using UiPath Studio, streamlining the process of retrieving, comparing, and recording stock prices. The system extracts real-time data from a financial website at specified intervals, identifies price changes, and updates an Excel report. Additionally, it enhances usability by automatically sending an email with the updated Excel sheet as an attachment to the user, ensuring timely delivery of information. By eliminating manual effort, it improves accuracy and efficiency. Future enhancements, such as API integration and real-time updates, can further expand its functionality, demonstrating the potential of RPA in financial automation.</a:t>
            </a:r>
          </a:p>
          <a:p>
            <a:pPr marL="0" indent="0">
              <a:buNone/>
            </a:pPr>
            <a:endParaRPr lang="en-US" dirty="0"/>
          </a:p>
          <a:p>
            <a:pPr marL="0" indent="0">
              <a:buNone/>
            </a:pPr>
            <a:endParaRPr lang="en-US" dirty="0"/>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for the Proposed System</a:t>
            </a:r>
            <a:endParaRPr lang="en-IN" dirty="0">
              <a:latin typeface="+mj-lt"/>
            </a:endParaRPr>
          </a:p>
        </p:txBody>
      </p:sp>
      <p:sp>
        <p:nvSpPr>
          <p:cNvPr id="3" name="Content Placeholder 2"/>
          <p:cNvSpPr>
            <a:spLocks noGrp="1"/>
          </p:cNvSpPr>
          <p:nvPr>
            <p:ph idx="1"/>
          </p:nvPr>
        </p:nvSpPr>
        <p:spPr/>
        <p:txBody>
          <a:bodyPr>
            <a:normAutofit lnSpcReduction="10000"/>
          </a:bodyPr>
          <a:lstStyle/>
          <a:p>
            <a:pPr marL="0" indent="0">
              <a:buNone/>
            </a:pPr>
            <a:r>
              <a:rPr lang="en-US" dirty="0"/>
              <a:t>The proposed system addresses the need for efficient, accurate, and automated monitoring of stock prices. In the fast-paced financial environment, manual tracking of stock prices is time-consuming, prone to errors, and lacks the timeliness required for making informed decisions. The integration of automation not only ensures real-time data retrieval and processing but also minimizes the risk of human error. Furthermore, the inclusion of an automated email feature enhances usability by delivering updated stock reports directly to the user, eliminating the need for manual file access. This system is especially beneficial for financial analysts, traders, and individual investors who require up-to-date information to respond promptly to market changes, thereby improving decision-making and productivity.</a:t>
            </a:r>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the Proposed System</a:t>
            </a:r>
            <a:endParaRPr lang="en-IN" dirty="0">
              <a:latin typeface="+mj-lt"/>
            </a:endParaRPr>
          </a:p>
        </p:txBody>
      </p:sp>
      <p:sp>
        <p:nvSpPr>
          <p:cNvPr id="3" name="Content Placeholder 2"/>
          <p:cNvSpPr>
            <a:spLocks noGrp="1"/>
          </p:cNvSpPr>
          <p:nvPr>
            <p:ph idx="1"/>
          </p:nvPr>
        </p:nvSpPr>
        <p:spPr/>
        <p:txBody>
          <a:bodyPr>
            <a:normAutofit fontScale="92500"/>
          </a:bodyPr>
          <a:lstStyle/>
          <a:p>
            <a:pPr marL="0" indent="0">
              <a:buNone/>
            </a:pPr>
            <a:r>
              <a:rPr lang="en-US" dirty="0"/>
              <a:t>The proposed system offers a range of advantages by combining automation, real-time data extraction, and email integration. It eliminates the need for manual stock price monitoring, ensuring faster and more accurate data retrieval. The system efficiently updates stock prices at regular intervals and generates a well-structured Excel report for easy analysis. With the added functionality of emailing the updated report to the user, it enhances accessibility, allowing users to receive critical updates directly in their inbox. This feature ensures timely decision-making without requiring constant monitoring of the system. Additionally, the scalability of the solution enables it to handle multiple stocks and recipients, making it suitable for both personal and professional use. Overall, the system improves productivity, reliability, and convenience in financial data management.</a:t>
            </a:r>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Literature Survey</a:t>
            </a:r>
            <a:endParaRPr lang="en-IN" dirty="0">
              <a:latin typeface="+mj-lt"/>
            </a:endParaRPr>
          </a:p>
        </p:txBody>
      </p:sp>
      <p:sp>
        <p:nvSpPr>
          <p:cNvPr id="3" name="Content Placeholder 2"/>
          <p:cNvSpPr>
            <a:spLocks noGrp="1"/>
          </p:cNvSpPr>
          <p:nvPr>
            <p:ph idx="1"/>
          </p:nvPr>
        </p:nvSpPr>
        <p:spPr/>
        <p:txBody>
          <a:bodyPr>
            <a:normAutofit fontScale="92500"/>
          </a:bodyPr>
          <a:lstStyle/>
          <a:p>
            <a:pPr marL="0" indent="0">
              <a:buNone/>
            </a:pPr>
            <a:r>
              <a:rPr lang="en-US" dirty="0"/>
              <a:t> </a:t>
            </a:r>
            <a:r>
              <a:rPr lang="en-IN" b="0" i="0" dirty="0">
                <a:solidFill>
                  <a:srgbClr val="111111"/>
                </a:solidFill>
                <a:effectLst/>
                <a:latin typeface="Roboto" panose="02000000000000000000" pitchFamily="2" charset="0"/>
              </a:rPr>
              <a:t>Web Scraping Techniques and Applications: A Literature Review</a:t>
            </a:r>
          </a:p>
          <a:p>
            <a:pPr marL="0" indent="0">
              <a:buNone/>
            </a:pPr>
            <a:r>
              <a:rPr lang="en-US" dirty="0"/>
              <a:t>Source: "Web Scraping as a Tool for Real-Time Data Acquisition in Finance" (Myriam </a:t>
            </a:r>
            <a:r>
              <a:rPr lang="en-US" dirty="0" err="1"/>
              <a:t>ertz</a:t>
            </a:r>
            <a:r>
              <a:rPr lang="en-US" dirty="0"/>
              <a:t> &amp; </a:t>
            </a:r>
            <a:r>
              <a:rPr lang="en-US" dirty="0" err="1"/>
              <a:t>Imen</a:t>
            </a:r>
            <a:r>
              <a:rPr lang="en-US" dirty="0"/>
              <a:t> </a:t>
            </a:r>
            <a:r>
              <a:rPr lang="en-US" dirty="0" err="1"/>
              <a:t>latrouz</a:t>
            </a:r>
            <a:r>
              <a:rPr lang="en-US" dirty="0"/>
              <a:t>, 2021).</a:t>
            </a:r>
          </a:p>
          <a:p>
            <a:pPr marL="0" indent="0">
              <a:buNone/>
            </a:pPr>
            <a:r>
              <a:rPr lang="en-US" dirty="0"/>
              <a:t>The authors discuss the role of web scraping in extracting stock prices and other market data. The paper outlines methods to implement dynamic web scraping using tools like Selenium, which aligns closely with UiPath’s capabilities.</a:t>
            </a:r>
          </a:p>
          <a:p>
            <a:pPr marL="0" indent="0">
              <a:buNone/>
            </a:pPr>
            <a:r>
              <a:rPr lang="en-US" dirty="0"/>
              <a:t>Advantages: Access to real-time data and ease of integration with analytics systems.</a:t>
            </a:r>
          </a:p>
          <a:p>
            <a:pPr marL="0" indent="0">
              <a:buNone/>
            </a:pPr>
            <a:r>
              <a:rPr lang="en-US" dirty="0"/>
              <a:t>Disadvantages: Susceptibility to changes in website structure, which may disrupt automation workflows.</a:t>
            </a:r>
          </a:p>
          <a:p>
            <a:pPr marL="0" indent="0">
              <a:buNone/>
            </a:pPr>
            <a:r>
              <a:rPr lang="en-US" dirty="0"/>
              <a:t> </a:t>
            </a:r>
          </a:p>
        </p:txBody>
      </p:sp>
    </p:spTree>
    <p:custDataLst>
      <p:tags r:id="rId1"/>
    </p:custDataLst>
    <p:extLst>
      <p:ext uri="{BB962C8B-B14F-4D97-AF65-F5344CB8AC3E}">
        <p14:creationId xmlns:p14="http://schemas.microsoft.com/office/powerpoint/2010/main" val="31064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 Objective</a:t>
            </a:r>
            <a:endParaRPr lang="en-IN" dirty="0">
              <a:latin typeface="+mj-lt"/>
            </a:endParaRPr>
          </a:p>
        </p:txBody>
      </p:sp>
      <p:sp>
        <p:nvSpPr>
          <p:cNvPr id="3" name="Content Placeholder 2"/>
          <p:cNvSpPr>
            <a:spLocks noGrp="1"/>
          </p:cNvSpPr>
          <p:nvPr>
            <p:ph idx="1"/>
          </p:nvPr>
        </p:nvSpPr>
        <p:spPr/>
        <p:txBody>
          <a:bodyPr>
            <a:normAutofit/>
          </a:bodyPr>
          <a:lstStyle/>
          <a:p>
            <a:pPr marL="0" indent="0">
              <a:buNone/>
            </a:pPr>
            <a:r>
              <a:rPr lang="en-US"/>
              <a:t>The </a:t>
            </a:r>
            <a:r>
              <a:rPr lang="en-US" dirty="0"/>
              <a:t>primary objective of this project is to automate the process </a:t>
            </a:r>
            <a:r>
              <a:rPr lang="en-US"/>
              <a:t>of stock </a:t>
            </a:r>
            <a:r>
              <a:rPr lang="en-US" dirty="0"/>
              <a:t>price monitoring, comparison, and reporting using UiPath Studio. The system aims to eliminate manual effort by dynamically extracting stock prices from a financial website at specified intervals, analyzing the changes, and updating the results in an Excel spreadsheet. Additionally, the project enhances user accessibility by automating the email delivery of the updated Excel report, ensuring timely and convenient access to the data. This solution is designed to improve efficiency, accuracy, and usability in financial data management, providing a reliable and scalable tool for both personal and professional applications.</a:t>
            </a:r>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IN" dirty="0">
              <a:latin typeface="+mj-lt"/>
            </a:endParaRPr>
          </a:p>
        </p:txBody>
      </p:sp>
      <p:pic>
        <p:nvPicPr>
          <p:cNvPr id="5" name="Content Placeholder 4">
            <a:extLst>
              <a:ext uri="{FF2B5EF4-FFF2-40B4-BE49-F238E27FC236}">
                <a16:creationId xmlns:a16="http://schemas.microsoft.com/office/drawing/2014/main" id="{64270AC0-7A5B-CF99-5B19-01996B111F4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243974" y="990600"/>
            <a:ext cx="8656052" cy="5334000"/>
          </a:xfrm>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Requirements</a:t>
            </a:r>
            <a:endParaRPr lang="en-IN" dirty="0">
              <a:latin typeface="+mj-lt"/>
            </a:endParaRPr>
          </a:p>
        </p:txBody>
      </p:sp>
      <p:sp>
        <p:nvSpPr>
          <p:cNvPr id="3" name="Content Placeholder 2"/>
          <p:cNvSpPr>
            <a:spLocks noGrp="1"/>
          </p:cNvSpPr>
          <p:nvPr>
            <p:ph idx="1"/>
          </p:nvPr>
        </p:nvSpPr>
        <p:spPr/>
        <p:txBody>
          <a:bodyPr>
            <a:normAutofit fontScale="70000" lnSpcReduction="20000"/>
          </a:bodyPr>
          <a:lstStyle/>
          <a:p>
            <a:pPr marL="0" indent="0">
              <a:buNone/>
            </a:pPr>
            <a:r>
              <a:rPr lang="en-US" b="1" dirty="0"/>
              <a:t>Software Requirements</a:t>
            </a:r>
          </a:p>
          <a:p>
            <a:pPr marL="0" indent="0">
              <a:buNone/>
            </a:pPr>
            <a:r>
              <a:rPr lang="en-US" dirty="0"/>
              <a:t>Operating System:</a:t>
            </a:r>
          </a:p>
          <a:p>
            <a:pPr marL="0" indent="0">
              <a:buNone/>
            </a:pPr>
            <a:r>
              <a:rPr lang="en-US" dirty="0"/>
              <a:t>Windows 10 or later (64-bit recommended).</a:t>
            </a:r>
          </a:p>
          <a:p>
            <a:pPr marL="0" indent="0">
              <a:buNone/>
            </a:pPr>
            <a:r>
              <a:rPr lang="en-US" dirty="0"/>
              <a:t>Compatible with UiPath Studio system requirements.</a:t>
            </a:r>
          </a:p>
          <a:p>
            <a:pPr marL="0" indent="0">
              <a:buNone/>
            </a:pPr>
            <a:endParaRPr lang="en-US" dirty="0"/>
          </a:p>
          <a:p>
            <a:pPr marL="0" indent="0">
              <a:buNone/>
            </a:pPr>
            <a:r>
              <a:rPr lang="en-US" dirty="0"/>
              <a:t>UiPath Studio:</a:t>
            </a:r>
          </a:p>
          <a:p>
            <a:pPr marL="0" indent="0">
              <a:buNone/>
            </a:pPr>
            <a:r>
              <a:rPr lang="en-US" dirty="0"/>
              <a:t>Latest stable version of UiPath Studio for development and execution.</a:t>
            </a:r>
          </a:p>
          <a:p>
            <a:pPr marL="0" indent="0">
              <a:buNone/>
            </a:pPr>
            <a:r>
              <a:rPr lang="en-US" dirty="0"/>
              <a:t>Required packages for activities like web scraping, Excel operations, and email automation.</a:t>
            </a:r>
          </a:p>
          <a:p>
            <a:pPr marL="0" indent="0">
              <a:buNone/>
            </a:pPr>
            <a:endParaRPr lang="en-US" dirty="0"/>
          </a:p>
          <a:p>
            <a:pPr marL="0" indent="0">
              <a:buNone/>
            </a:pPr>
            <a:r>
              <a:rPr lang="en-US" dirty="0"/>
              <a:t>Microsoft Excel:</a:t>
            </a:r>
          </a:p>
          <a:p>
            <a:pPr marL="0" indent="0">
              <a:buNone/>
            </a:pPr>
            <a:r>
              <a:rPr lang="en-US" dirty="0"/>
              <a:t>Excel 2016 or later for spreadsheet creation and manipulation.</a:t>
            </a:r>
          </a:p>
          <a:p>
            <a:pPr marL="0" indent="0">
              <a:buNone/>
            </a:pPr>
            <a:r>
              <a:rPr lang="en-US" dirty="0"/>
              <a:t>SMTP Server Configuration:</a:t>
            </a:r>
          </a:p>
          <a:p>
            <a:pPr marL="0" indent="0">
              <a:buNone/>
            </a:pPr>
            <a:r>
              <a:rPr lang="en-US" dirty="0"/>
              <a:t>Access to an email service provider supporting SMTP (e.g., Gmail, Outlook).</a:t>
            </a:r>
          </a:p>
          <a:p>
            <a:pPr marL="0" indent="0">
              <a:buNone/>
            </a:pPr>
            <a:r>
              <a:rPr lang="en-US" dirty="0"/>
              <a:t>Relevant SMTP credentials (e.g., server address, port, email ID, and password).</a:t>
            </a:r>
          </a:p>
          <a:p>
            <a:pPr marL="0" indent="0">
              <a:buNone/>
            </a:pPr>
            <a:endParaRPr lang="en-US" dirty="0"/>
          </a:p>
          <a:p>
            <a:pPr marL="0" indent="0">
              <a:buNone/>
            </a:pPr>
            <a:r>
              <a:rPr lang="en-US" dirty="0"/>
              <a:t>Web Browser:</a:t>
            </a:r>
          </a:p>
          <a:p>
            <a:pPr marL="0" indent="0">
              <a:buNone/>
            </a:pPr>
            <a:r>
              <a:rPr lang="en-US" dirty="0"/>
              <a:t>Google Chrome, Mozilla Firefox, or Microsoft Edge with UiPath browser extension installed for web scraping</a:t>
            </a:r>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50594-D46B-D27C-8986-41A1108393CB}"/>
              </a:ext>
            </a:extLst>
          </p:cNvPr>
          <p:cNvSpPr>
            <a:spLocks noGrp="1"/>
          </p:cNvSpPr>
          <p:nvPr>
            <p:ph type="title"/>
          </p:nvPr>
        </p:nvSpPr>
        <p:spPr/>
        <p:txBody>
          <a:bodyPr/>
          <a:lstStyle/>
          <a:p>
            <a:r>
              <a:rPr lang="en-US" dirty="0"/>
              <a:t>System Requirements</a:t>
            </a:r>
            <a:endParaRPr lang="en-IN" dirty="0"/>
          </a:p>
        </p:txBody>
      </p:sp>
      <p:sp>
        <p:nvSpPr>
          <p:cNvPr id="3" name="Content Placeholder 2">
            <a:extLst>
              <a:ext uri="{FF2B5EF4-FFF2-40B4-BE49-F238E27FC236}">
                <a16:creationId xmlns:a16="http://schemas.microsoft.com/office/drawing/2014/main" id="{A0365B37-BFDC-F318-C210-2CBA3C11E349}"/>
              </a:ext>
            </a:extLst>
          </p:cNvPr>
          <p:cNvSpPr>
            <a:spLocks noGrp="1"/>
          </p:cNvSpPr>
          <p:nvPr>
            <p:ph idx="1"/>
          </p:nvPr>
        </p:nvSpPr>
        <p:spPr/>
        <p:txBody>
          <a:bodyPr>
            <a:normAutofit fontScale="70000" lnSpcReduction="20000"/>
          </a:bodyPr>
          <a:lstStyle/>
          <a:p>
            <a:pPr marL="0" indent="0">
              <a:buNone/>
            </a:pPr>
            <a:r>
              <a:rPr lang="en-US" b="1" dirty="0"/>
              <a:t>Hardware Requirements</a:t>
            </a:r>
          </a:p>
          <a:p>
            <a:pPr marL="0" indent="0">
              <a:buNone/>
            </a:pPr>
            <a:endParaRPr lang="en-US" dirty="0"/>
          </a:p>
          <a:p>
            <a:pPr marL="0" indent="0">
              <a:buNone/>
            </a:pPr>
            <a:r>
              <a:rPr lang="en-US" dirty="0"/>
              <a:t>Processor:</a:t>
            </a:r>
          </a:p>
          <a:p>
            <a:pPr marL="0" indent="0">
              <a:buNone/>
            </a:pPr>
            <a:r>
              <a:rPr lang="en-US" dirty="0"/>
              <a:t>Minimum: Dual-Core Processor.</a:t>
            </a:r>
          </a:p>
          <a:p>
            <a:pPr marL="0" indent="0">
              <a:buNone/>
            </a:pPr>
            <a:r>
              <a:rPr lang="en-US" dirty="0"/>
              <a:t>Recommended: Quad-Core Processor or higher for faster performance.</a:t>
            </a:r>
          </a:p>
          <a:p>
            <a:pPr marL="0" indent="0">
              <a:buNone/>
            </a:pPr>
            <a:endParaRPr lang="en-US" dirty="0"/>
          </a:p>
          <a:p>
            <a:pPr marL="0" indent="0">
              <a:buNone/>
            </a:pPr>
            <a:r>
              <a:rPr lang="en-US" dirty="0"/>
              <a:t>RAM:</a:t>
            </a:r>
          </a:p>
          <a:p>
            <a:pPr marL="0" indent="0">
              <a:buNone/>
            </a:pPr>
            <a:r>
              <a:rPr lang="en-US" dirty="0"/>
              <a:t>Minimum: 4 GB.</a:t>
            </a:r>
          </a:p>
          <a:p>
            <a:pPr marL="0" indent="0">
              <a:buNone/>
            </a:pPr>
            <a:r>
              <a:rPr lang="en-US" dirty="0"/>
              <a:t>Recommended: 8 GB or higher for smooth operation, especially when handling large datasets or multiple workflows.</a:t>
            </a:r>
          </a:p>
          <a:p>
            <a:pPr marL="0" indent="0">
              <a:buNone/>
            </a:pPr>
            <a:endParaRPr lang="en-US" dirty="0"/>
          </a:p>
          <a:p>
            <a:pPr marL="0" indent="0">
              <a:buNone/>
            </a:pPr>
            <a:r>
              <a:rPr lang="en-US" dirty="0"/>
              <a:t>Storage:</a:t>
            </a:r>
          </a:p>
          <a:p>
            <a:pPr marL="0" indent="0">
              <a:buNone/>
            </a:pPr>
            <a:r>
              <a:rPr lang="en-US" dirty="0"/>
              <a:t>Minimum: 10 GB free disk space.</a:t>
            </a:r>
          </a:p>
          <a:p>
            <a:pPr marL="0" indent="0">
              <a:buNone/>
            </a:pPr>
            <a:r>
              <a:rPr lang="en-US" dirty="0"/>
              <a:t>Recommended: SSD with 20 GB or more free space for faster file handling and workflow execution.</a:t>
            </a:r>
          </a:p>
          <a:p>
            <a:pPr marL="0" indent="0">
              <a:buNone/>
            </a:pPr>
            <a:endParaRPr lang="en-US" dirty="0"/>
          </a:p>
          <a:p>
            <a:pPr marL="0" indent="0">
              <a:buNone/>
            </a:pPr>
            <a:r>
              <a:rPr lang="en-US" dirty="0"/>
              <a:t>Internet Connection:</a:t>
            </a:r>
          </a:p>
          <a:p>
            <a:pPr marL="0" indent="0">
              <a:buNone/>
            </a:pPr>
            <a:r>
              <a:rPr lang="en-US" dirty="0"/>
              <a:t>Stable connection for accessing online resources, retrieving stock prices, and sending emails.</a:t>
            </a:r>
          </a:p>
          <a:p>
            <a:pPr marL="0" indent="0">
              <a:buNone/>
            </a:pPr>
            <a:endParaRPr lang="en-US" dirty="0"/>
          </a:p>
        </p:txBody>
      </p:sp>
    </p:spTree>
    <p:extLst>
      <p:ext uri="{BB962C8B-B14F-4D97-AF65-F5344CB8AC3E}">
        <p14:creationId xmlns:p14="http://schemas.microsoft.com/office/powerpoint/2010/main" val="34768578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p:cNvSpPr>
            <a:spLocks noGrp="1"/>
          </p:cNvSpPr>
          <p:nvPr>
            <p:ph idx="1"/>
          </p:nvPr>
        </p:nvSpPr>
        <p:spPr>
          <a:xfrm>
            <a:off x="190500" y="908720"/>
            <a:ext cx="8763000" cy="5334000"/>
          </a:xfrm>
        </p:spPr>
        <p:txBody>
          <a:bodyPr>
            <a:normAutofit fontScale="55000" lnSpcReduction="20000"/>
          </a:bodyPr>
          <a:lstStyle/>
          <a:p>
            <a:pPr marL="0" indent="0">
              <a:buNone/>
            </a:pPr>
            <a:r>
              <a:rPr lang="en-US" dirty="0"/>
              <a:t>Stock Price Retrieval:</a:t>
            </a:r>
          </a:p>
          <a:p>
            <a:pPr marL="0" indent="0">
              <a:buNone/>
            </a:pPr>
            <a:r>
              <a:rPr lang="en-US" dirty="0"/>
              <a:t>The system uses web scraping techniques to extract real-time stock prices from a financial website. It leverages UiPath’s web automation activities to navigate the site and dynamically retrieve the required data based on user-defined criteria.</a:t>
            </a:r>
          </a:p>
          <a:p>
            <a:pPr marL="0" indent="0">
              <a:buNone/>
            </a:pPr>
            <a:endParaRPr lang="en-US" dirty="0"/>
          </a:p>
          <a:p>
            <a:pPr marL="0" indent="0">
              <a:buNone/>
            </a:pPr>
            <a:r>
              <a:rPr lang="en-US" dirty="0"/>
              <a:t>Data Comparison:</a:t>
            </a:r>
          </a:p>
          <a:p>
            <a:pPr marL="0" indent="0">
              <a:buNone/>
            </a:pPr>
            <a:r>
              <a:rPr lang="en-US" dirty="0"/>
              <a:t>After retrieving stock prices at a specified interval, the system compares the new data with previously recorded values. Any changes in stock prices are identified and flagged for further analysis.</a:t>
            </a:r>
          </a:p>
          <a:p>
            <a:pPr marL="0" indent="0">
              <a:buNone/>
            </a:pPr>
            <a:endParaRPr lang="en-US" dirty="0"/>
          </a:p>
          <a:p>
            <a:pPr marL="0" indent="0">
              <a:buNone/>
            </a:pPr>
            <a:r>
              <a:rPr lang="en-US" dirty="0"/>
              <a:t>Excel Report Generation:</a:t>
            </a:r>
          </a:p>
          <a:p>
            <a:pPr marL="0" indent="0">
              <a:buNone/>
            </a:pPr>
            <a:r>
              <a:rPr lang="en-US" dirty="0"/>
              <a:t>The updated stock prices, along with their comparisons, are recorded in an Excel spreadsheet. This report is structured for clarity, containing columns for stock names, initial prices, updated prices, and percentage changes.</a:t>
            </a:r>
          </a:p>
          <a:p>
            <a:pPr marL="0" indent="0">
              <a:buNone/>
            </a:pPr>
            <a:endParaRPr lang="en-US" dirty="0"/>
          </a:p>
          <a:p>
            <a:pPr marL="0" indent="0">
              <a:buNone/>
            </a:pPr>
            <a:r>
              <a:rPr lang="en-US" dirty="0"/>
              <a:t>Automated Email Delivery:</a:t>
            </a:r>
          </a:p>
          <a:p>
            <a:pPr marL="0" indent="0">
              <a:buNone/>
            </a:pPr>
            <a:r>
              <a:rPr lang="en-US" dirty="0"/>
              <a:t>Once the Excel report is updated, the system automatically sends the file to the user’s email address using the Send SMTP Mail Message activity. The email contains the updated report as an attachment, ensuring timely delivery of data.</a:t>
            </a:r>
          </a:p>
          <a:p>
            <a:pPr marL="0" indent="0">
              <a:buNone/>
            </a:pPr>
            <a:endParaRPr lang="en-US" dirty="0"/>
          </a:p>
          <a:p>
            <a:pPr marL="0" indent="0">
              <a:buNone/>
            </a:pPr>
            <a:r>
              <a:rPr lang="en-US" dirty="0"/>
              <a:t>Error Handling:</a:t>
            </a:r>
          </a:p>
          <a:p>
            <a:pPr marL="0" indent="0">
              <a:buNone/>
            </a:pPr>
            <a:r>
              <a:rPr lang="en-US" dirty="0"/>
              <a:t>The system incorporates robust error-handling mechanisms to ensure reliability. It handles scenarios such as website changes, network interruptions, or invalid email configurations by logging errors and providing alerts for troubleshooting.</a:t>
            </a:r>
          </a:p>
          <a:p>
            <a:pPr marL="0" indent="0">
              <a:buNone/>
            </a:pPr>
            <a:endParaRPr lang="en-US" dirty="0"/>
          </a:p>
          <a:p>
            <a:pPr marL="0" indent="0">
              <a:buNone/>
            </a:pPr>
            <a:r>
              <a:rPr lang="en-US" dirty="0"/>
              <a:t>User Interaction and Scheduling:</a:t>
            </a:r>
          </a:p>
          <a:p>
            <a:pPr marL="0" indent="0">
              <a:buNone/>
            </a:pPr>
            <a:r>
              <a:rPr lang="en-US" dirty="0"/>
              <a:t>The system requires minimal user interaction. It can be configured to run at specified intervals, automating the entire process from data retrieval to email delivery. Users can set parameters like the stock list, time intervals, and recipient email addresses.</a:t>
            </a:r>
          </a:p>
          <a:p>
            <a:pPr marL="0" indent="0">
              <a:buNone/>
            </a:pPr>
            <a:endParaRPr lang="en-US" dirty="0"/>
          </a:p>
        </p:txBody>
      </p:sp>
    </p:spTree>
    <p:custDataLst>
      <p:tags r:id="rId1"/>
    </p:custDataLst>
    <p:extLst>
      <p:ext uri="{BB962C8B-B14F-4D97-AF65-F5344CB8AC3E}">
        <p14:creationId xmlns:p14="http://schemas.microsoft.com/office/powerpoint/2010/main" val="784506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Table Design</a:t>
            </a:r>
            <a:endParaRPr lang="en-IN" dirty="0">
              <a:latin typeface="+mj-lt"/>
            </a:endParaRPr>
          </a:p>
        </p:txBody>
      </p:sp>
      <p:pic>
        <p:nvPicPr>
          <p:cNvPr id="5" name="Content Placeholder 4">
            <a:extLst>
              <a:ext uri="{FF2B5EF4-FFF2-40B4-BE49-F238E27FC236}">
                <a16:creationId xmlns:a16="http://schemas.microsoft.com/office/drawing/2014/main" id="{CEFF4355-8D15-C733-8C35-80DCF1E65D9C}"/>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2262187" y="1895475"/>
            <a:ext cx="4619625" cy="3524250"/>
          </a:xfrm>
        </p:spPr>
      </p:pic>
    </p:spTree>
    <p:custDataLst>
      <p:tags r:id="rId1"/>
    </p:custDataLst>
    <p:extLst>
      <p:ext uri="{BB962C8B-B14F-4D97-AF65-F5344CB8AC3E}">
        <p14:creationId xmlns:p14="http://schemas.microsoft.com/office/powerpoint/2010/main" val="1639169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 Design</a:t>
            </a:r>
            <a:endParaRPr lang="en-IN" dirty="0">
              <a:latin typeface="+mj-lt"/>
            </a:endParaRPr>
          </a:p>
        </p:txBody>
      </p:sp>
      <p:sp>
        <p:nvSpPr>
          <p:cNvPr id="3" name="Content Placeholder 2"/>
          <p:cNvSpPr>
            <a:spLocks noGrp="1"/>
          </p:cNvSpPr>
          <p:nvPr>
            <p:ph idx="1"/>
          </p:nvPr>
        </p:nvSpPr>
        <p:spPr/>
        <p:txBody>
          <a:bodyPr>
            <a:normAutofit fontScale="47500" lnSpcReduction="20000"/>
          </a:bodyPr>
          <a:lstStyle/>
          <a:p>
            <a:r>
              <a:rPr lang="en-US" dirty="0"/>
              <a:t>Main Process</a:t>
            </a:r>
          </a:p>
          <a:p>
            <a:pPr marL="0" indent="0">
              <a:buNone/>
            </a:pPr>
            <a:r>
              <a:rPr lang="en-US" dirty="0"/>
              <a:t>Initialization:</a:t>
            </a:r>
          </a:p>
          <a:p>
            <a:pPr marL="0" indent="0">
              <a:buNone/>
            </a:pPr>
            <a:r>
              <a:rPr lang="en-US" dirty="0"/>
              <a:t>Load configuration settings (e.g., stock list, website URL, email recipient details).</a:t>
            </a:r>
          </a:p>
          <a:p>
            <a:pPr marL="0" indent="0">
              <a:buNone/>
            </a:pPr>
            <a:r>
              <a:rPr lang="en-US" dirty="0"/>
              <a:t>Set the desired interval for stock price retrieval (e.g., every hour).</a:t>
            </a:r>
          </a:p>
          <a:p>
            <a:pPr marL="0" indent="0">
              <a:buNone/>
            </a:pPr>
            <a:r>
              <a:rPr lang="en-US" dirty="0"/>
              <a:t>Prepare the environment for the web scraping and email sending operations.</a:t>
            </a:r>
          </a:p>
          <a:p>
            <a:pPr marL="0" indent="0">
              <a:buNone/>
            </a:pPr>
            <a:endParaRPr lang="en-US" dirty="0"/>
          </a:p>
          <a:p>
            <a:pPr marL="0" indent="0">
              <a:buNone/>
            </a:pPr>
            <a:r>
              <a:rPr lang="en-US" dirty="0"/>
              <a:t>Stock Price Extraction:</a:t>
            </a:r>
          </a:p>
          <a:p>
            <a:pPr marL="0" indent="0">
              <a:buNone/>
            </a:pPr>
            <a:r>
              <a:rPr lang="en-US" dirty="0"/>
              <a:t>Trigger the Stock Price Retrieval Subprocess to extract the latest stock prices from the specified financial website.</a:t>
            </a:r>
          </a:p>
          <a:p>
            <a:pPr marL="0" indent="0">
              <a:buNone/>
            </a:pPr>
            <a:r>
              <a:rPr lang="en-US" dirty="0"/>
              <a:t>Ensure that the system logs the timestamps of when the prices were fetched for tracking purposes.</a:t>
            </a:r>
          </a:p>
          <a:p>
            <a:pPr marL="0" indent="0">
              <a:buNone/>
            </a:pPr>
            <a:endParaRPr lang="en-US" dirty="0"/>
          </a:p>
          <a:p>
            <a:pPr marL="0" indent="0">
              <a:buNone/>
            </a:pPr>
            <a:r>
              <a:rPr lang="en-US" dirty="0"/>
              <a:t>Data Comparison:</a:t>
            </a:r>
          </a:p>
          <a:p>
            <a:pPr marL="0" indent="0">
              <a:buNone/>
            </a:pPr>
            <a:r>
              <a:rPr lang="en-US" dirty="0"/>
              <a:t>Compare the newly extracted stock prices with the previously recorded prices in the </a:t>
            </a:r>
            <a:r>
              <a:rPr lang="en-US" dirty="0" err="1"/>
              <a:t>PriceHistory</a:t>
            </a:r>
            <a:r>
              <a:rPr lang="en-US" dirty="0"/>
              <a:t> table.</a:t>
            </a:r>
          </a:p>
          <a:p>
            <a:pPr marL="0" indent="0">
              <a:buNone/>
            </a:pPr>
            <a:r>
              <a:rPr lang="en-US" dirty="0"/>
              <a:t>Calculate the percentage change and store the updated information.</a:t>
            </a:r>
          </a:p>
          <a:p>
            <a:pPr marL="0" indent="0">
              <a:buNone/>
            </a:pPr>
            <a:endParaRPr lang="en-US" dirty="0"/>
          </a:p>
          <a:p>
            <a:pPr marL="0" indent="0">
              <a:buNone/>
            </a:pPr>
            <a:r>
              <a:rPr lang="en-US" dirty="0"/>
              <a:t>Excel Report Update:</a:t>
            </a:r>
          </a:p>
          <a:p>
            <a:pPr marL="0" indent="0">
              <a:buNone/>
            </a:pPr>
            <a:r>
              <a:rPr lang="en-US" dirty="0"/>
              <a:t>Trigger the Report Generation Subprocess to update the Excel file with the new stock prices and comparisons.</a:t>
            </a:r>
          </a:p>
          <a:p>
            <a:pPr marL="0" indent="0">
              <a:buNone/>
            </a:pPr>
            <a:r>
              <a:rPr lang="en-US" dirty="0"/>
              <a:t>Ensure that the file format remains consistent for readability.</a:t>
            </a:r>
          </a:p>
          <a:p>
            <a:pPr marL="0" indent="0">
              <a:buNone/>
            </a:pPr>
            <a:endParaRPr lang="en-US" dirty="0"/>
          </a:p>
          <a:p>
            <a:pPr marL="0" indent="0">
              <a:buNone/>
            </a:pPr>
            <a:r>
              <a:rPr lang="en-US" dirty="0"/>
              <a:t>Email Notification:</a:t>
            </a:r>
          </a:p>
          <a:p>
            <a:pPr marL="0" indent="0">
              <a:buNone/>
            </a:pPr>
            <a:r>
              <a:rPr lang="en-US" dirty="0"/>
              <a:t>Trigger the Email Sending Subprocess to email the updated Excel file to the designated recipients.</a:t>
            </a:r>
          </a:p>
          <a:p>
            <a:pPr marL="0" indent="0">
              <a:buNone/>
            </a:pPr>
            <a:r>
              <a:rPr lang="en-US" dirty="0"/>
              <a:t>Ensure that email status is logged for record-keeping purposes.</a:t>
            </a:r>
          </a:p>
          <a:p>
            <a:pPr marL="0" indent="0">
              <a:buNone/>
            </a:pPr>
            <a:endParaRPr lang="en-US" dirty="0"/>
          </a:p>
          <a:p>
            <a:pPr marL="0" indent="0">
              <a:buNone/>
            </a:pPr>
            <a:r>
              <a:rPr lang="en-US" dirty="0"/>
              <a:t>Completion:</a:t>
            </a:r>
          </a:p>
          <a:p>
            <a:pPr marL="0" indent="0">
              <a:buNone/>
            </a:pPr>
            <a:r>
              <a:rPr lang="en-US" dirty="0"/>
              <a:t>Log the completion of the process, including timestamps and system status.</a:t>
            </a:r>
          </a:p>
          <a:p>
            <a:pPr marL="0" indent="0">
              <a:buNone/>
            </a:pPr>
            <a:r>
              <a:rPr lang="en-US" dirty="0"/>
              <a:t>Wait for the next scheduled interval and repeat the process.</a:t>
            </a:r>
          </a:p>
          <a:p>
            <a:pPr marL="0" indent="0">
              <a:buNone/>
            </a:pPr>
            <a:endParaRPr lang="en-US" dirty="0"/>
          </a:p>
          <a:p>
            <a:r>
              <a:rPr lang="en-US" dirty="0"/>
              <a:t>Sub Process</a:t>
            </a:r>
          </a:p>
        </p:txBody>
      </p:sp>
    </p:spTree>
    <p:custDataLst>
      <p:tags r:id="rId1"/>
    </p:custDataLst>
    <p:extLst>
      <p:ext uri="{BB962C8B-B14F-4D97-AF65-F5344CB8AC3E}">
        <p14:creationId xmlns:p14="http://schemas.microsoft.com/office/powerpoint/2010/main" val="3023427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139BD-7651-CB09-47F5-80E8F51DFB05}"/>
              </a:ext>
            </a:extLst>
          </p:cNvPr>
          <p:cNvSpPr>
            <a:spLocks noGrp="1"/>
          </p:cNvSpPr>
          <p:nvPr>
            <p:ph type="title"/>
          </p:nvPr>
        </p:nvSpPr>
        <p:spPr/>
        <p:txBody>
          <a:bodyPr/>
          <a:lstStyle/>
          <a:p>
            <a:r>
              <a:rPr lang="en-IN" dirty="0"/>
              <a:t>Process Design</a:t>
            </a:r>
          </a:p>
        </p:txBody>
      </p:sp>
      <p:sp>
        <p:nvSpPr>
          <p:cNvPr id="3" name="Content Placeholder 2">
            <a:extLst>
              <a:ext uri="{FF2B5EF4-FFF2-40B4-BE49-F238E27FC236}">
                <a16:creationId xmlns:a16="http://schemas.microsoft.com/office/drawing/2014/main" id="{D23F1528-353C-3E72-F179-4B0A043ABE8B}"/>
              </a:ext>
            </a:extLst>
          </p:cNvPr>
          <p:cNvSpPr>
            <a:spLocks noGrp="1"/>
          </p:cNvSpPr>
          <p:nvPr>
            <p:ph idx="1"/>
          </p:nvPr>
        </p:nvSpPr>
        <p:spPr/>
        <p:txBody>
          <a:bodyPr>
            <a:normAutofit fontScale="40000" lnSpcReduction="20000"/>
          </a:bodyPr>
          <a:lstStyle/>
          <a:p>
            <a:r>
              <a:rPr lang="en-US" sz="2800" b="1" dirty="0"/>
              <a:t>Sub Process</a:t>
            </a:r>
          </a:p>
          <a:p>
            <a:pPr marL="0" indent="0">
              <a:buNone/>
            </a:pPr>
            <a:r>
              <a:rPr lang="en-US" b="1" dirty="0"/>
              <a:t>1. Stock Price Retrieval Subprocess</a:t>
            </a:r>
          </a:p>
          <a:p>
            <a:pPr marL="0" indent="0">
              <a:buNone/>
            </a:pPr>
            <a:r>
              <a:rPr lang="en-US" dirty="0"/>
              <a:t>This subprocess is responsible for accessing the financial website and extracting real-time stock prices. It uses web scraping techniques to navigate the webpage, locate the stock price elements, and retrieve the required data.</a:t>
            </a:r>
          </a:p>
          <a:p>
            <a:pPr marL="0" indent="0">
              <a:buNone/>
            </a:pPr>
            <a:r>
              <a:rPr lang="en-US" b="1" dirty="0"/>
              <a:t>Inputs</a:t>
            </a:r>
            <a:r>
              <a:rPr lang="en-US" dirty="0"/>
              <a:t>: URL of the financial website, stock symbols.</a:t>
            </a:r>
          </a:p>
          <a:p>
            <a:pPr marL="0" indent="0">
              <a:buNone/>
            </a:pPr>
            <a:r>
              <a:rPr lang="en-US" b="1" dirty="0"/>
              <a:t>Outputs: </a:t>
            </a:r>
            <a:r>
              <a:rPr lang="en-US" dirty="0"/>
              <a:t>Extracted stock prices.</a:t>
            </a:r>
          </a:p>
          <a:p>
            <a:pPr marL="0" indent="0">
              <a:buNone/>
            </a:pPr>
            <a:r>
              <a:rPr lang="en-US" b="1" dirty="0"/>
              <a:t>Steps:</a:t>
            </a:r>
          </a:p>
          <a:p>
            <a:pPr marL="0" indent="0">
              <a:buNone/>
            </a:pPr>
            <a:r>
              <a:rPr lang="en-US" dirty="0"/>
              <a:t>Access the website using an automated browser.</a:t>
            </a:r>
          </a:p>
          <a:p>
            <a:pPr marL="0" indent="0">
              <a:buNone/>
            </a:pPr>
            <a:r>
              <a:rPr lang="en-US" dirty="0"/>
              <a:t>Locate and extract the stock price data.</a:t>
            </a:r>
          </a:p>
          <a:p>
            <a:pPr marL="0" indent="0">
              <a:buNone/>
            </a:pPr>
            <a:r>
              <a:rPr lang="en-US" dirty="0"/>
              <a:t>Return the stock prices to the main process.</a:t>
            </a:r>
          </a:p>
          <a:p>
            <a:pPr marL="0" indent="0">
              <a:buNone/>
            </a:pPr>
            <a:endParaRPr lang="en-US" b="1" dirty="0"/>
          </a:p>
          <a:p>
            <a:pPr marL="0" indent="0">
              <a:buNone/>
            </a:pPr>
            <a:r>
              <a:rPr lang="en-US" b="1" dirty="0"/>
              <a:t>2. Report Generation Subprocess</a:t>
            </a:r>
          </a:p>
          <a:p>
            <a:pPr marL="0" indent="0">
              <a:buNone/>
            </a:pPr>
            <a:r>
              <a:rPr lang="en-US" dirty="0"/>
              <a:t>The Report Generation Subprocess updates the Excel file with the new stock prices and calculated changes.</a:t>
            </a:r>
          </a:p>
          <a:p>
            <a:pPr marL="0" indent="0">
              <a:buNone/>
            </a:pPr>
            <a:r>
              <a:rPr lang="en-US" b="1" dirty="0"/>
              <a:t>Inputs: </a:t>
            </a:r>
            <a:r>
              <a:rPr lang="en-US" dirty="0"/>
              <a:t>Extracted stock prices, comparison data (percentage change), Excel file.</a:t>
            </a:r>
          </a:p>
          <a:p>
            <a:pPr marL="0" indent="0">
              <a:buNone/>
            </a:pPr>
            <a:r>
              <a:rPr lang="en-US" b="1" dirty="0"/>
              <a:t>Outputs: </a:t>
            </a:r>
            <a:r>
              <a:rPr lang="en-US" dirty="0"/>
              <a:t>Updated Excel file.</a:t>
            </a:r>
          </a:p>
          <a:p>
            <a:pPr marL="0" indent="0">
              <a:buNone/>
            </a:pPr>
            <a:r>
              <a:rPr lang="en-US" b="1" dirty="0"/>
              <a:t>Steps:</a:t>
            </a:r>
          </a:p>
          <a:p>
            <a:pPr marL="0" indent="0">
              <a:buNone/>
            </a:pPr>
            <a:r>
              <a:rPr lang="en-US" dirty="0"/>
              <a:t>Open the Excel file and check for existing data.</a:t>
            </a:r>
          </a:p>
          <a:p>
            <a:pPr marL="0" indent="0">
              <a:buNone/>
            </a:pPr>
            <a:r>
              <a:rPr lang="en-US" dirty="0"/>
              <a:t>Insert new data, including stock name, initial price, updated price, and percentage change.</a:t>
            </a:r>
          </a:p>
          <a:p>
            <a:pPr marL="0" indent="0">
              <a:buNone/>
            </a:pPr>
            <a:r>
              <a:rPr lang="en-US" dirty="0"/>
              <a:t>Save and close the Excel file.</a:t>
            </a:r>
          </a:p>
          <a:p>
            <a:pPr marL="0" indent="0">
              <a:buNone/>
            </a:pPr>
            <a:endParaRPr lang="en-US" dirty="0"/>
          </a:p>
          <a:p>
            <a:pPr marL="0" indent="0">
              <a:buNone/>
            </a:pPr>
            <a:r>
              <a:rPr lang="en-US" b="1" dirty="0"/>
              <a:t>3. Email Sending Subprocess</a:t>
            </a:r>
          </a:p>
          <a:p>
            <a:pPr marL="0" indent="0">
              <a:buNone/>
            </a:pPr>
            <a:r>
              <a:rPr lang="en-US" dirty="0"/>
              <a:t>This subprocess handles the task of sending the updated Excel report via email. It uses SMTP protocol to send the email with the attached Excel file to the specified recipient(s).</a:t>
            </a:r>
          </a:p>
          <a:p>
            <a:pPr marL="0" indent="0">
              <a:buNone/>
            </a:pPr>
            <a:r>
              <a:rPr lang="en-US" b="1" dirty="0"/>
              <a:t>Inputs</a:t>
            </a:r>
            <a:r>
              <a:rPr lang="en-US" dirty="0"/>
              <a:t>: User email addresses, updated Excel file.</a:t>
            </a:r>
          </a:p>
          <a:p>
            <a:pPr marL="0" indent="0">
              <a:buNone/>
            </a:pPr>
            <a:r>
              <a:rPr lang="en-US" b="1" dirty="0"/>
              <a:t>Outputs: </a:t>
            </a:r>
            <a:r>
              <a:rPr lang="en-US" dirty="0"/>
              <a:t>Sent email (confirmation or failure log).</a:t>
            </a:r>
          </a:p>
          <a:p>
            <a:pPr marL="0" indent="0">
              <a:buNone/>
            </a:pPr>
            <a:r>
              <a:rPr lang="en-US" b="1" dirty="0"/>
              <a:t>Steps:</a:t>
            </a:r>
          </a:p>
          <a:p>
            <a:pPr marL="0" indent="0">
              <a:buNone/>
            </a:pPr>
            <a:r>
              <a:rPr lang="en-US" dirty="0"/>
              <a:t>Compose the email with the attached Excel file.</a:t>
            </a:r>
          </a:p>
          <a:p>
            <a:pPr marL="0" indent="0">
              <a:buNone/>
            </a:pPr>
            <a:r>
              <a:rPr lang="en-US" dirty="0"/>
              <a:t>Send the email using SMTP configuration.</a:t>
            </a:r>
          </a:p>
          <a:p>
            <a:pPr marL="0" indent="0">
              <a:buNone/>
            </a:pPr>
            <a:r>
              <a:rPr lang="en-US" dirty="0"/>
              <a:t>Log the email status (whether it was sent successfully or encountered an error).</a:t>
            </a:r>
          </a:p>
          <a:p>
            <a:pPr marL="0" indent="0">
              <a:buNone/>
            </a:pPr>
            <a:endParaRPr lang="en-IN" dirty="0"/>
          </a:p>
        </p:txBody>
      </p:sp>
    </p:spTree>
    <p:extLst>
      <p:ext uri="{BB962C8B-B14F-4D97-AF65-F5344CB8AC3E}">
        <p14:creationId xmlns:p14="http://schemas.microsoft.com/office/powerpoint/2010/main" val="1739260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730349"/>
          </a:xfrm>
        </p:spPr>
        <p:txBody>
          <a:bodyPr>
            <a:normAutofit fontScale="90000"/>
          </a:bodyPr>
          <a:lstStyle/>
          <a:p>
            <a:r>
              <a:rPr lang="en-US" dirty="0"/>
              <a:t>Implementation</a:t>
            </a:r>
            <a:endParaRPr lang="en-IN" dirty="0">
              <a:latin typeface="+mj-lt"/>
            </a:endParaRPr>
          </a:p>
        </p:txBody>
      </p:sp>
      <p:pic>
        <p:nvPicPr>
          <p:cNvPr id="13" name="Content Placeholder 12">
            <a:extLst>
              <a:ext uri="{FF2B5EF4-FFF2-40B4-BE49-F238E27FC236}">
                <a16:creationId xmlns:a16="http://schemas.microsoft.com/office/drawing/2014/main" id="{8097159D-7397-7B37-ABF1-4FBEF36DEB52}"/>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799692" y="990599"/>
            <a:ext cx="5292587" cy="5462737"/>
          </a:xfrm>
        </p:spPr>
      </p:pic>
    </p:spTree>
    <p:custDataLst>
      <p:tags r:id="rId1"/>
    </p:custDataLst>
    <p:extLst>
      <p:ext uri="{BB962C8B-B14F-4D97-AF65-F5344CB8AC3E}">
        <p14:creationId xmlns:p14="http://schemas.microsoft.com/office/powerpoint/2010/main" val="1769472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p:cNvSpPr>
            <a:spLocks noGrp="1"/>
          </p:cNvSpPr>
          <p:nvPr>
            <p:ph idx="1"/>
          </p:nvPr>
        </p:nvSpPr>
        <p:spPr>
          <a:xfrm>
            <a:off x="190500" y="836712"/>
            <a:ext cx="8763000" cy="5334000"/>
          </a:xfrm>
        </p:spPr>
        <p:txBody>
          <a:bodyPr>
            <a:normAutofit fontScale="92500" lnSpcReduction="10000"/>
          </a:bodyPr>
          <a:lstStyle/>
          <a:p>
            <a:pPr algn="l"/>
            <a:r>
              <a:rPr lang="en-US" b="0" i="0" dirty="0">
                <a:effectLst/>
                <a:latin typeface="ui-sans-serif"/>
              </a:rPr>
              <a:t>Testing for the stock price monitoring system involves verifying that each component functions correctly and that the system as a whole meets the project requirements. The testing process includes the following steps:</a:t>
            </a:r>
          </a:p>
          <a:p>
            <a:pPr algn="l">
              <a:buFont typeface="+mj-lt"/>
              <a:buAutoNum type="arabicPeriod"/>
            </a:pPr>
            <a:r>
              <a:rPr lang="en-US" b="1" i="0" dirty="0">
                <a:effectLst/>
                <a:latin typeface="ui-sans-serif"/>
              </a:rPr>
              <a:t>Unit Testing</a:t>
            </a:r>
            <a:r>
              <a:rPr lang="en-US" b="0" i="0" dirty="0">
                <a:effectLst/>
                <a:latin typeface="ui-sans-serif"/>
              </a:rPr>
              <a:t>:</a:t>
            </a:r>
          </a:p>
          <a:p>
            <a:pPr marL="742950" lvl="1" indent="-285750" algn="l">
              <a:buFont typeface="+mj-lt"/>
              <a:buAutoNum type="arabicPeriod"/>
            </a:pPr>
            <a:r>
              <a:rPr lang="en-US" b="0" i="0" dirty="0">
                <a:effectLst/>
                <a:latin typeface="ui-sans-serif"/>
              </a:rPr>
              <a:t>Each subprocess (e.g., stock price retrieval, Excel report generation, email sending) is tested individually to ensure it operates as expected.</a:t>
            </a:r>
          </a:p>
          <a:p>
            <a:pPr algn="l">
              <a:buFont typeface="+mj-lt"/>
              <a:buAutoNum type="arabicPeriod"/>
            </a:pPr>
            <a:r>
              <a:rPr lang="en-US" b="1" i="0" dirty="0">
                <a:effectLst/>
                <a:latin typeface="ui-sans-serif"/>
              </a:rPr>
              <a:t>Integration Testing</a:t>
            </a:r>
            <a:r>
              <a:rPr lang="en-US" b="0" i="0" dirty="0">
                <a:effectLst/>
                <a:latin typeface="ui-sans-serif"/>
              </a:rPr>
              <a:t>:</a:t>
            </a:r>
          </a:p>
          <a:p>
            <a:pPr marL="742950" lvl="1" indent="-285750" algn="l">
              <a:buFont typeface="+mj-lt"/>
              <a:buAutoNum type="arabicPeriod"/>
            </a:pPr>
            <a:r>
              <a:rPr lang="en-US" b="0" i="0" dirty="0">
                <a:effectLst/>
                <a:latin typeface="ui-sans-serif"/>
              </a:rPr>
              <a:t>The individual subprocesses are integrated, and their interaction is tested to ensure smooth data flow and correct execution (e.g., comparing stock prices, updating the Excel file, and sending emails).</a:t>
            </a:r>
          </a:p>
          <a:p>
            <a:pPr algn="l">
              <a:buFont typeface="+mj-lt"/>
              <a:buAutoNum type="arabicPeriod"/>
            </a:pPr>
            <a:r>
              <a:rPr lang="en-US" b="1" i="0" dirty="0">
                <a:effectLst/>
                <a:latin typeface="ui-sans-serif"/>
              </a:rPr>
              <a:t>System Testing</a:t>
            </a:r>
            <a:r>
              <a:rPr lang="en-US" b="0" i="0" dirty="0">
                <a:effectLst/>
                <a:latin typeface="ui-sans-serif"/>
              </a:rPr>
              <a:t>:</a:t>
            </a:r>
          </a:p>
          <a:p>
            <a:pPr marL="742950" lvl="1" indent="-285750" algn="l">
              <a:buFont typeface="+mj-lt"/>
              <a:buAutoNum type="arabicPeriod"/>
            </a:pPr>
            <a:r>
              <a:rPr lang="en-US" b="0" i="0" dirty="0">
                <a:effectLst/>
                <a:latin typeface="ui-sans-serif"/>
              </a:rPr>
              <a:t>The complete system is tested under different conditions (e.g., different stock symbols, time intervals) to ensure it runs correctly end-to-end.</a:t>
            </a:r>
          </a:p>
          <a:p>
            <a:pPr marL="0" indent="0">
              <a:buNone/>
            </a:pPr>
            <a:endParaRPr lang="en-US" dirty="0"/>
          </a:p>
          <a:p>
            <a:pPr marL="0" indent="0">
              <a:buNone/>
            </a:pPr>
            <a:endParaRPr lang="en-US" dirty="0"/>
          </a:p>
          <a:p>
            <a:endParaRPr lang="en-US" dirty="0"/>
          </a:p>
        </p:txBody>
      </p:sp>
    </p:spTree>
    <p:custDataLst>
      <p:tags r:id="rId1"/>
    </p:custDataLst>
    <p:extLst>
      <p:ext uri="{BB962C8B-B14F-4D97-AF65-F5344CB8AC3E}">
        <p14:creationId xmlns:p14="http://schemas.microsoft.com/office/powerpoint/2010/main" val="1921327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5FA34-AEA4-00BD-C337-D03C087CB514}"/>
              </a:ext>
            </a:extLst>
          </p:cNvPr>
          <p:cNvSpPr>
            <a:spLocks noGrp="1"/>
          </p:cNvSpPr>
          <p:nvPr>
            <p:ph type="title"/>
          </p:nvPr>
        </p:nvSpPr>
        <p:spPr/>
        <p:txBody>
          <a:bodyPr/>
          <a:lstStyle/>
          <a:p>
            <a:r>
              <a:rPr lang="en-IN" dirty="0"/>
              <a:t>Testing</a:t>
            </a:r>
          </a:p>
        </p:txBody>
      </p:sp>
      <p:pic>
        <p:nvPicPr>
          <p:cNvPr id="5" name="Content Placeholder 4">
            <a:extLst>
              <a:ext uri="{FF2B5EF4-FFF2-40B4-BE49-F238E27FC236}">
                <a16:creationId xmlns:a16="http://schemas.microsoft.com/office/drawing/2014/main" id="{AFD76428-55CD-6C7C-9139-9038D3F54F5B}"/>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95536" y="1024358"/>
            <a:ext cx="5616624" cy="2222676"/>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FFF8FACA-8779-200A-E342-F427FC0A17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544" y="3681028"/>
            <a:ext cx="3261643" cy="137171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67467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9D106-8705-D560-AFAC-BA16AE9C17DB}"/>
              </a:ext>
            </a:extLst>
          </p:cNvPr>
          <p:cNvSpPr>
            <a:spLocks noGrp="1"/>
          </p:cNvSpPr>
          <p:nvPr>
            <p:ph type="title"/>
          </p:nvPr>
        </p:nvSpPr>
        <p:spPr/>
        <p:txBody>
          <a:bodyPr>
            <a:normAutofit/>
          </a:bodyPr>
          <a:lstStyle/>
          <a:p>
            <a:r>
              <a:rPr lang="en-IN" dirty="0"/>
              <a:t>Testing</a:t>
            </a:r>
          </a:p>
        </p:txBody>
      </p:sp>
      <p:pic>
        <p:nvPicPr>
          <p:cNvPr id="5" name="Content Placeholder 4">
            <a:extLst>
              <a:ext uri="{FF2B5EF4-FFF2-40B4-BE49-F238E27FC236}">
                <a16:creationId xmlns:a16="http://schemas.microsoft.com/office/drawing/2014/main" id="{639120A3-F070-B558-F047-EF8CDE2BCA3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4402" y="1232756"/>
            <a:ext cx="6577744" cy="3274630"/>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80833DE6-1ED2-0CF8-0DB2-6A0713D9A3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540" y="4854126"/>
            <a:ext cx="3299746" cy="1371719"/>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0658F4D2-6261-0B37-D4C0-F844DF3BFC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79812" y="3082260"/>
            <a:ext cx="2438611" cy="693480"/>
          </a:xfrm>
          <a:prstGeom prst="rect">
            <a:avLst/>
          </a:prstGeom>
          <a:ln>
            <a:noFill/>
          </a:ln>
          <a:effectLst>
            <a:outerShdw blurRad="292100" dist="139700" dir="2700000" algn="tl" rotWithShape="0">
              <a:srgbClr val="333333">
                <a:alpha val="65000"/>
              </a:srgbClr>
            </a:outerShdw>
          </a:effectLst>
        </p:spPr>
      </p:pic>
      <p:cxnSp>
        <p:nvCxnSpPr>
          <p:cNvPr id="11" name="Straight Arrow Connector 10">
            <a:extLst>
              <a:ext uri="{FF2B5EF4-FFF2-40B4-BE49-F238E27FC236}">
                <a16:creationId xmlns:a16="http://schemas.microsoft.com/office/drawing/2014/main" id="{3313BED8-AA49-2ADB-ACF6-C8B6135E261A}"/>
              </a:ext>
            </a:extLst>
          </p:cNvPr>
          <p:cNvCxnSpPr>
            <a:endCxn id="9" idx="1"/>
          </p:cNvCxnSpPr>
          <p:nvPr/>
        </p:nvCxnSpPr>
        <p:spPr>
          <a:xfrm>
            <a:off x="1727684" y="3429000"/>
            <a:ext cx="115212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5663421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Conclusions</a:t>
            </a:r>
            <a:endParaRPr lang="en-IN" dirty="0">
              <a:latin typeface="+mj-lt"/>
            </a:endParaRPr>
          </a:p>
        </p:txBody>
      </p:sp>
      <p:sp>
        <p:nvSpPr>
          <p:cNvPr id="3" name="Content Placeholder 2"/>
          <p:cNvSpPr>
            <a:spLocks noGrp="1"/>
          </p:cNvSpPr>
          <p:nvPr>
            <p:ph idx="1"/>
          </p:nvPr>
        </p:nvSpPr>
        <p:spPr/>
        <p:txBody>
          <a:bodyPr>
            <a:normAutofit fontScale="62500" lnSpcReduction="20000"/>
          </a:bodyPr>
          <a:lstStyle/>
          <a:p>
            <a:pPr marL="0" indent="0">
              <a:buNone/>
            </a:pPr>
            <a:r>
              <a:rPr lang="en-US" dirty="0"/>
              <a:t>The stock price monitoring and reporting system developed in this project offers an efficient and automated solution to track real-time stock price changes, perform data comparisons, and generate periodic reports. By leveraging UiPath Studio’s capabilities for web scraping, Excel automation, and email notification, the system ensures timely and accurate updates for users, reducing the need for manual interventions and improving productivity.</a:t>
            </a:r>
          </a:p>
          <a:p>
            <a:pPr marL="0" indent="0">
              <a:buNone/>
            </a:pPr>
            <a:endParaRPr lang="en-US" dirty="0"/>
          </a:p>
          <a:p>
            <a:pPr marL="0" indent="0">
              <a:buNone/>
            </a:pPr>
            <a:r>
              <a:rPr lang="en-US" dirty="0"/>
              <a:t>Key accomplishments of the project include:</a:t>
            </a:r>
          </a:p>
          <a:p>
            <a:r>
              <a:rPr lang="en-US" dirty="0"/>
              <a:t>Automation of the process to extract, compare, and store stock prices at regular intervals.</a:t>
            </a:r>
          </a:p>
          <a:p>
            <a:r>
              <a:rPr lang="en-US" dirty="0"/>
              <a:t>The generation of comprehensive reports in Excel format, making it easier for users to analyze price trends.</a:t>
            </a:r>
          </a:p>
          <a:p>
            <a:r>
              <a:rPr lang="en-US" dirty="0"/>
              <a:t>Seamless email integration, allowing the system to send updated stock price reports to users automatically.</a:t>
            </a:r>
          </a:p>
          <a:p>
            <a:pPr marL="0" indent="0">
              <a:buNone/>
            </a:pPr>
            <a:r>
              <a:rPr lang="en-US" dirty="0"/>
              <a:t>The system was successfully implemented with robust error handling, making it resilient to potential failures such as website changes or email sending issues. It also provides an easy-to-use platform that can be scaled to monitor more stocks, providing further value to users.</a:t>
            </a:r>
          </a:p>
          <a:p>
            <a:pPr marL="0" indent="0">
              <a:buNone/>
            </a:pPr>
            <a:endParaRPr lang="en-US" dirty="0"/>
          </a:p>
          <a:p>
            <a:pPr marL="0" indent="0">
              <a:buNone/>
            </a:pPr>
            <a:r>
              <a:rPr lang="en-US" dirty="0"/>
              <a:t>In conclusion, this project fulfills its objectives of automating stock price monitoring and reporting, ensuring that users stay informed with minimal effort. The successful integration of all components, coupled with the flexibility and scalability of the solution, makes it a valuable tool for any individual or organization requiring regular stock price updates.</a:t>
            </a:r>
          </a:p>
          <a:p>
            <a:endParaRPr lang="en-US" dirty="0"/>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586333"/>
          </a:xfrm>
        </p:spPr>
        <p:txBody>
          <a:bodyPr>
            <a:normAutofit fontScale="90000"/>
          </a:bodyPr>
          <a:lstStyle/>
          <a:p>
            <a:r>
              <a:rPr lang="en-US" dirty="0"/>
              <a:t>Future Enhancement</a:t>
            </a:r>
            <a:endParaRPr lang="en-IN" dirty="0">
              <a:latin typeface="+mj-lt"/>
            </a:endParaRPr>
          </a:p>
        </p:txBody>
      </p:sp>
      <p:sp>
        <p:nvSpPr>
          <p:cNvPr id="3" name="Content Placeholder 2"/>
          <p:cNvSpPr>
            <a:spLocks noGrp="1"/>
          </p:cNvSpPr>
          <p:nvPr>
            <p:ph idx="1"/>
          </p:nvPr>
        </p:nvSpPr>
        <p:spPr>
          <a:xfrm>
            <a:off x="190500" y="692696"/>
            <a:ext cx="8763000" cy="5631904"/>
          </a:xfrm>
        </p:spPr>
        <p:txBody>
          <a:bodyPr>
            <a:normAutofit fontScale="25000" lnSpcReduction="20000"/>
          </a:bodyPr>
          <a:lstStyle/>
          <a:p>
            <a:pPr marL="0" indent="0">
              <a:buNone/>
            </a:pPr>
            <a:endParaRPr lang="en-US" sz="4000" dirty="0"/>
          </a:p>
          <a:p>
            <a:pPr marL="0" indent="0">
              <a:buNone/>
            </a:pPr>
            <a:r>
              <a:rPr lang="en-US" sz="4000" dirty="0"/>
              <a:t>While the current stock price monitoring system is functional, several enhancements could be made to improve its capabilities and user experience:</a:t>
            </a:r>
          </a:p>
          <a:p>
            <a:pPr marL="0" indent="0">
              <a:buNone/>
            </a:pPr>
            <a:r>
              <a:rPr lang="en-US" sz="4000" dirty="0"/>
              <a:t>Real-Time Price Alerts:</a:t>
            </a:r>
          </a:p>
          <a:p>
            <a:pPr marL="0" indent="0">
              <a:buNone/>
            </a:pPr>
            <a:r>
              <a:rPr lang="en-US" sz="4000" dirty="0"/>
              <a:t>Allow users to set price thresholds for automatic notifications when stock prices reach certain levels, enabling more proactive monitoring.</a:t>
            </a:r>
          </a:p>
          <a:p>
            <a:pPr marL="0" indent="0">
              <a:buNone/>
            </a:pPr>
            <a:endParaRPr lang="en-US" sz="4000" dirty="0"/>
          </a:p>
          <a:p>
            <a:pPr marL="0" indent="0">
              <a:buNone/>
            </a:pPr>
            <a:r>
              <a:rPr lang="en-US" sz="4000" dirty="0"/>
              <a:t>Multiple Stock Market Platform Integration:</a:t>
            </a:r>
          </a:p>
          <a:p>
            <a:pPr marL="0" indent="0">
              <a:buNone/>
            </a:pPr>
            <a:r>
              <a:rPr lang="en-US" sz="4000" dirty="0"/>
              <a:t>Expand the system to gather data from multiple financial platforms, ensuring more reliable and comprehensive stock price information.</a:t>
            </a:r>
          </a:p>
          <a:p>
            <a:pPr marL="0" indent="0">
              <a:buNone/>
            </a:pPr>
            <a:endParaRPr lang="en-US" sz="4000" dirty="0"/>
          </a:p>
          <a:p>
            <a:pPr marL="0" indent="0">
              <a:buNone/>
            </a:pPr>
            <a:r>
              <a:rPr lang="en-US" sz="4000" dirty="0"/>
              <a:t>Historical Data Analysis and Visualization:</a:t>
            </a:r>
          </a:p>
          <a:p>
            <a:pPr marL="0" indent="0">
              <a:buNone/>
            </a:pPr>
            <a:r>
              <a:rPr lang="en-US" sz="4000" dirty="0"/>
              <a:t>Integrate tools for analyzing historical stock trends and generating visual reports (charts/graphs), providing users with deeper insights into stock performance.</a:t>
            </a:r>
          </a:p>
          <a:p>
            <a:pPr marL="0" indent="0">
              <a:buNone/>
            </a:pPr>
            <a:endParaRPr lang="en-US" sz="4000" dirty="0"/>
          </a:p>
          <a:p>
            <a:pPr marL="0" indent="0">
              <a:buNone/>
            </a:pPr>
            <a:r>
              <a:rPr lang="en-US" sz="4000" dirty="0"/>
              <a:t>Enhanced Error Handling:</a:t>
            </a:r>
          </a:p>
          <a:p>
            <a:pPr marL="0" indent="0">
              <a:buNone/>
            </a:pPr>
            <a:r>
              <a:rPr lang="en-US" sz="4000" dirty="0"/>
              <a:t>Improve error handling with automatic retries, detailed logging, and fallback mechanisms to ensure smoother operation even in case of issues.</a:t>
            </a:r>
          </a:p>
          <a:p>
            <a:pPr marL="0" indent="0">
              <a:buNone/>
            </a:pPr>
            <a:endParaRPr lang="en-US" sz="4000" dirty="0"/>
          </a:p>
          <a:p>
            <a:pPr marL="0" indent="0">
              <a:buNone/>
            </a:pPr>
            <a:r>
              <a:rPr lang="en-US" sz="4000" dirty="0"/>
              <a:t>User Customization:</a:t>
            </a:r>
          </a:p>
          <a:p>
            <a:pPr marL="0" indent="0">
              <a:buNone/>
            </a:pPr>
            <a:r>
              <a:rPr lang="en-US" sz="4000" dirty="0"/>
              <a:t>Allow users to add/remove stocks from the monitoring list and set personalized report formats and frequencies for more flexibility.</a:t>
            </a:r>
          </a:p>
          <a:p>
            <a:pPr marL="0" indent="0">
              <a:buNone/>
            </a:pPr>
            <a:endParaRPr lang="en-US" sz="4000" dirty="0"/>
          </a:p>
          <a:p>
            <a:pPr marL="0" indent="0">
              <a:buNone/>
            </a:pPr>
            <a:r>
              <a:rPr lang="en-US" sz="4000" dirty="0"/>
              <a:t>Support for Multiple Email Recipients:</a:t>
            </a:r>
          </a:p>
          <a:p>
            <a:pPr marL="0" indent="0">
              <a:buNone/>
            </a:pPr>
            <a:r>
              <a:rPr lang="en-US" sz="4000" dirty="0"/>
              <a:t>Enable the system to send reports to multiple recipients, facilitating sharing among teams or clients.</a:t>
            </a:r>
          </a:p>
          <a:p>
            <a:pPr marL="0" indent="0">
              <a:buNone/>
            </a:pPr>
            <a:endParaRPr lang="en-US" sz="4000" dirty="0"/>
          </a:p>
          <a:p>
            <a:pPr marL="0" indent="0">
              <a:buNone/>
            </a:pPr>
            <a:r>
              <a:rPr lang="en-US" sz="4000" dirty="0"/>
              <a:t>Financial API Integration:</a:t>
            </a:r>
          </a:p>
          <a:p>
            <a:pPr marL="0" indent="0">
              <a:buNone/>
            </a:pPr>
            <a:r>
              <a:rPr lang="en-US" sz="4000" dirty="0"/>
              <a:t>Integrate third-party APIs (like Alpha Vantage) to retrieve real-time stock prices more accurately and quickly.</a:t>
            </a:r>
          </a:p>
          <a:p>
            <a:pPr marL="0" indent="0">
              <a:buNone/>
            </a:pPr>
            <a:endParaRPr lang="en-US" sz="4000" dirty="0"/>
          </a:p>
          <a:p>
            <a:pPr marL="0" indent="0">
              <a:buNone/>
            </a:pPr>
            <a:r>
              <a:rPr lang="en-US" sz="4000" dirty="0"/>
              <a:t>Mobile Notifications:</a:t>
            </a:r>
          </a:p>
          <a:p>
            <a:pPr marL="0" indent="0">
              <a:buNone/>
            </a:pPr>
            <a:r>
              <a:rPr lang="en-US" sz="4000" dirty="0"/>
              <a:t>Extend notifications to mobile devices, keeping users informed on the go with stock price updates and alerts.</a:t>
            </a:r>
          </a:p>
          <a:p>
            <a:pPr marL="0" indent="0">
              <a:buNone/>
            </a:pPr>
            <a:endParaRPr lang="en-US" sz="4000" dirty="0"/>
          </a:p>
          <a:p>
            <a:pPr marL="0" indent="0">
              <a:buNone/>
            </a:pPr>
            <a:r>
              <a:rPr lang="en-US" sz="4000" dirty="0"/>
              <a:t>Cloud Deployment:</a:t>
            </a:r>
          </a:p>
          <a:p>
            <a:pPr marL="0" indent="0">
              <a:buNone/>
            </a:pPr>
            <a:r>
              <a:rPr lang="en-US" sz="4000" dirty="0"/>
              <a:t>Migrate the system to the cloud for improved scalability, reliability, and remote access.</a:t>
            </a:r>
          </a:p>
          <a:p>
            <a:pPr marL="0" indent="0">
              <a:buNone/>
            </a:pPr>
            <a:endParaRPr lang="en-US" sz="4000" dirty="0"/>
          </a:p>
          <a:p>
            <a:pPr marL="0" indent="0">
              <a:buNone/>
            </a:pPr>
            <a:r>
              <a:rPr lang="en-US" sz="4000" dirty="0"/>
              <a:t>Machine Learning for Predictive Analytics:</a:t>
            </a:r>
          </a:p>
          <a:p>
            <a:pPr marL="0" indent="0">
              <a:buNone/>
            </a:pPr>
            <a:r>
              <a:rPr lang="en-US" sz="4000" dirty="0"/>
              <a:t>Implement predictive models to forecast future stock price movements based on historical data and trends.</a:t>
            </a:r>
          </a:p>
          <a:p>
            <a:pPr marL="0" indent="0">
              <a:buNone/>
            </a:pPr>
            <a:endParaRPr lang="en-US" sz="4000" dirty="0"/>
          </a:p>
          <a:p>
            <a:pPr marL="0" indent="0">
              <a:buNone/>
            </a:pPr>
            <a:r>
              <a:rPr lang="en-US" sz="4000" dirty="0"/>
              <a:t>These enhancements would increase the system's functionality, scalability, and user engagement, making it a more comprehensive tool for stock price monitoring.</a:t>
            </a:r>
          </a:p>
          <a:p>
            <a:pPr marL="0" indent="0">
              <a:buNone/>
            </a:pPr>
            <a:endParaRPr lang="en-US" dirty="0"/>
          </a:p>
          <a:p>
            <a:pPr marL="0" indent="0">
              <a:buNone/>
            </a:pPr>
            <a:endParaRPr lang="en-US" sz="2800"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endParaRPr lang="en-US" dirty="0"/>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IEEE Paper</a:t>
            </a:r>
            <a:endParaRPr lang="en-IN" dirty="0">
              <a:latin typeface="+mj-lt"/>
            </a:endParaRPr>
          </a:p>
        </p:txBody>
      </p:sp>
      <p:sp>
        <p:nvSpPr>
          <p:cNvPr id="3" name="Content Placeholder 2"/>
          <p:cNvSpPr>
            <a:spLocks noGrp="1"/>
          </p:cNvSpPr>
          <p:nvPr>
            <p:ph idx="1"/>
          </p:nvPr>
        </p:nvSpPr>
        <p:spPr/>
        <p:txBody>
          <a:bodyPr/>
          <a:lstStyle/>
          <a:p>
            <a:pPr marL="0" indent="0">
              <a:buNone/>
            </a:pPr>
            <a:r>
              <a:rPr lang="en-US" b="1" i="0" dirty="0">
                <a:solidFill>
                  <a:srgbClr val="333333"/>
                </a:solidFill>
                <a:effectLst/>
                <a:latin typeface="HelveticaNeue Regular"/>
              </a:rPr>
              <a:t>Intelligent Automation in Stock Market Prediction: A Survey of Automated Models</a:t>
            </a:r>
          </a:p>
          <a:p>
            <a:pPr marL="0" indent="0">
              <a:buNone/>
            </a:pPr>
            <a:r>
              <a:rPr lang="en-US" dirty="0"/>
              <a:t>Authors: </a:t>
            </a:r>
            <a:r>
              <a:rPr lang="en-US" dirty="0" err="1"/>
              <a:t>Anirudhan</a:t>
            </a:r>
            <a:r>
              <a:rPr lang="en-US" dirty="0"/>
              <a:t> </a:t>
            </a:r>
            <a:r>
              <a:rPr lang="en-US" dirty="0" err="1"/>
              <a:t>Adukkathayar</a:t>
            </a:r>
            <a:r>
              <a:rPr lang="en-US" dirty="0"/>
              <a:t> C; Vishwanath R </a:t>
            </a:r>
            <a:r>
              <a:rPr lang="en-US" dirty="0" err="1"/>
              <a:t>Hulipalled</a:t>
            </a:r>
            <a:r>
              <a:rPr lang="en-US" dirty="0"/>
              <a:t>; Jay </a:t>
            </a:r>
            <a:r>
              <a:rPr lang="en-US" dirty="0" err="1"/>
              <a:t>Bharthish</a:t>
            </a:r>
            <a:r>
              <a:rPr lang="en-US" dirty="0"/>
              <a:t> </a:t>
            </a:r>
            <a:r>
              <a:rPr lang="en-US" dirty="0" err="1"/>
              <a:t>Simha</a:t>
            </a:r>
            <a:r>
              <a:rPr lang="en-US" dirty="0"/>
              <a:t>; Ramesh </a:t>
            </a:r>
            <a:r>
              <a:rPr lang="en-US" dirty="0" err="1"/>
              <a:t>Chundi</a:t>
            </a:r>
            <a:endParaRPr lang="en-US" dirty="0"/>
          </a:p>
          <a:p>
            <a:pPr marL="0" indent="0">
              <a:buNone/>
            </a:pPr>
            <a:endParaRPr lang="en-US" dirty="0"/>
          </a:p>
          <a:p>
            <a:pPr marL="0" indent="0">
              <a:buNone/>
            </a:pPr>
            <a:r>
              <a:rPr lang="en-US" b="1" i="0" dirty="0">
                <a:solidFill>
                  <a:srgbClr val="333333"/>
                </a:solidFill>
                <a:effectLst/>
                <a:latin typeface="HelveticaNeue Regular"/>
              </a:rPr>
              <a:t>Stock Market Manipulation Detection using Artificial Intelligence: A Concise Review</a:t>
            </a:r>
          </a:p>
          <a:p>
            <a:pPr marL="0" indent="0">
              <a:buNone/>
            </a:pPr>
            <a:r>
              <a:rPr lang="en-US" dirty="0" err="1">
                <a:solidFill>
                  <a:srgbClr val="333333"/>
                </a:solidFill>
              </a:rPr>
              <a:t>Authors:Mohd</a:t>
            </a:r>
            <a:r>
              <a:rPr lang="en-US" dirty="0">
                <a:solidFill>
                  <a:srgbClr val="333333"/>
                </a:solidFill>
              </a:rPr>
              <a:t> </a:t>
            </a:r>
            <a:r>
              <a:rPr lang="en-US" dirty="0" err="1">
                <a:solidFill>
                  <a:srgbClr val="333333"/>
                </a:solidFill>
              </a:rPr>
              <a:t>Asyraf</a:t>
            </a:r>
            <a:r>
              <a:rPr lang="en-US" dirty="0">
                <a:solidFill>
                  <a:srgbClr val="333333"/>
                </a:solidFill>
              </a:rPr>
              <a:t> </a:t>
            </a:r>
            <a:r>
              <a:rPr lang="en-US" dirty="0" err="1">
                <a:solidFill>
                  <a:srgbClr val="333333"/>
                </a:solidFill>
              </a:rPr>
              <a:t>Zulkifley</a:t>
            </a:r>
            <a:r>
              <a:rPr lang="en-US" dirty="0">
                <a:solidFill>
                  <a:srgbClr val="333333"/>
                </a:solidFill>
              </a:rPr>
              <a:t>; Mohd </a:t>
            </a:r>
            <a:r>
              <a:rPr lang="en-US" dirty="0" err="1">
                <a:solidFill>
                  <a:srgbClr val="333333"/>
                </a:solidFill>
              </a:rPr>
              <a:t>Edil</a:t>
            </a:r>
            <a:r>
              <a:rPr lang="en-US" dirty="0">
                <a:solidFill>
                  <a:srgbClr val="333333"/>
                </a:solidFill>
              </a:rPr>
              <a:t> Abd </a:t>
            </a:r>
            <a:r>
              <a:rPr lang="en-US" dirty="0" err="1">
                <a:solidFill>
                  <a:srgbClr val="333333"/>
                </a:solidFill>
              </a:rPr>
              <a:t>Sukor</a:t>
            </a:r>
            <a:r>
              <a:rPr lang="en-US" dirty="0">
                <a:solidFill>
                  <a:srgbClr val="333333"/>
                </a:solidFill>
              </a:rPr>
              <a:t>; Ali Fayyaz Munir; Muhammad Hakimi Mohd </a:t>
            </a:r>
            <a:r>
              <a:rPr lang="en-US" dirty="0" err="1">
                <a:solidFill>
                  <a:srgbClr val="333333"/>
                </a:solidFill>
              </a:rPr>
              <a:t>Shafiai</a:t>
            </a:r>
            <a:endParaRPr lang="en-US" i="0" dirty="0">
              <a:solidFill>
                <a:srgbClr val="333333"/>
              </a:solidFill>
              <a:effectLst/>
            </a:endParaRPr>
          </a:p>
          <a:p>
            <a:pPr marL="0" indent="0">
              <a:buNone/>
            </a:pPr>
            <a:endParaRPr lang="en-US" dirty="0"/>
          </a:p>
        </p:txBody>
      </p:sp>
    </p:spTree>
    <p:custDataLst>
      <p:tags r:id="rId1"/>
    </p:custDataLst>
    <p:extLst>
      <p:ext uri="{BB962C8B-B14F-4D97-AF65-F5344CB8AC3E}">
        <p14:creationId xmlns:p14="http://schemas.microsoft.com/office/powerpoint/2010/main" val="32772628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pic>
        <p:nvPicPr>
          <p:cNvPr id="5" name="Content Placeholder 4">
            <a:extLst>
              <a:ext uri="{FF2B5EF4-FFF2-40B4-BE49-F238E27FC236}">
                <a16:creationId xmlns:a16="http://schemas.microsoft.com/office/drawing/2014/main" id="{56494E61-B286-B7D7-3B0F-04A927F87AF4}"/>
              </a:ext>
            </a:extLst>
          </p:cNvPr>
          <p:cNvPicPr>
            <a:picLocks noGrp="1" noChangeAspect="1"/>
          </p:cNvPicPr>
          <p:nvPr>
            <p:ph idx="1"/>
          </p:nvPr>
        </p:nvPicPr>
        <p:blipFill>
          <a:blip r:embed="rId4"/>
          <a:stretch>
            <a:fillRect/>
          </a:stretch>
        </p:blipFill>
        <p:spPr>
          <a:xfrm>
            <a:off x="647564" y="1016732"/>
            <a:ext cx="4987776" cy="5334000"/>
          </a:xfrm>
        </p:spPr>
      </p:pic>
    </p:spTree>
    <p:custDataLst>
      <p:tags r:id="rId1"/>
    </p:custDataLst>
    <p:extLst>
      <p:ext uri="{BB962C8B-B14F-4D97-AF65-F5344CB8AC3E}">
        <p14:creationId xmlns:p14="http://schemas.microsoft.com/office/powerpoint/2010/main" val="19304747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32822" y="2321005"/>
            <a:ext cx="4078361"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Queries</a:t>
            </a:r>
          </a:p>
        </p:txBody>
      </p:sp>
    </p:spTree>
    <p:extLst>
      <p:ext uri="{BB962C8B-B14F-4D97-AF65-F5344CB8AC3E}">
        <p14:creationId xmlns:p14="http://schemas.microsoft.com/office/powerpoint/2010/main" val="21918022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27460" y="2321005"/>
            <a:ext cx="7689093"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Demonstration</a:t>
            </a:r>
          </a:p>
        </p:txBody>
      </p:sp>
    </p:spTree>
    <p:extLst>
      <p:ext uri="{BB962C8B-B14F-4D97-AF65-F5344CB8AC3E}">
        <p14:creationId xmlns:p14="http://schemas.microsoft.com/office/powerpoint/2010/main" val="26063687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ags/tag16.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9314</TotalTime>
  <Words>2340</Words>
  <Application>Microsoft Office PowerPoint</Application>
  <PresentationFormat>On-screen Show (4:3)</PresentationFormat>
  <Paragraphs>225</Paragraphs>
  <Slides>24</Slides>
  <Notes>19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Arial</vt:lpstr>
      <vt:lpstr>Calibri</vt:lpstr>
      <vt:lpstr>HelveticaNeue Regular</vt:lpstr>
      <vt:lpstr>Open Sans Bold</vt:lpstr>
      <vt:lpstr>Open Sans Extrabold</vt:lpstr>
      <vt:lpstr>Open Sans Light</vt:lpstr>
      <vt:lpstr>Roboto</vt:lpstr>
      <vt:lpstr>Times New Roman</vt:lpstr>
      <vt:lpstr>ui-sans-serif</vt:lpstr>
      <vt:lpstr>Wingdings</vt:lpstr>
      <vt:lpstr>Office Theme</vt:lpstr>
      <vt:lpstr>PowerPoint Presentation</vt:lpstr>
      <vt:lpstr>Abstract</vt:lpstr>
      <vt:lpstr>Need for the Proposed System</vt:lpstr>
      <vt:lpstr>Advantages of the Proposed System</vt:lpstr>
      <vt:lpstr>Literature Survey</vt:lpstr>
      <vt:lpstr>Main Objective</vt:lpstr>
      <vt:lpstr>Architecture</vt:lpstr>
      <vt:lpstr>System Requirements</vt:lpstr>
      <vt:lpstr>System Requirements</vt:lpstr>
      <vt:lpstr>Functional Description</vt:lpstr>
      <vt:lpstr>Table Design</vt:lpstr>
      <vt:lpstr>Process Design</vt:lpstr>
      <vt:lpstr>Process Design</vt:lpstr>
      <vt:lpstr>Implementation</vt:lpstr>
      <vt:lpstr>Testing</vt:lpstr>
      <vt:lpstr>Testing</vt:lpstr>
      <vt:lpstr>Testing</vt:lpstr>
      <vt:lpstr>Conclusions</vt:lpstr>
      <vt:lpstr>Future Enhancement</vt:lpstr>
      <vt:lpstr>IEEE Paper</vt:lpstr>
      <vt:lpstr>References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Umesh Subramanian</cp:lastModifiedBy>
  <cp:revision>1745</cp:revision>
  <dcterms:created xsi:type="dcterms:W3CDTF">2013-05-17T03:00:03Z</dcterms:created>
  <dcterms:modified xsi:type="dcterms:W3CDTF">2024-11-22T06:24:54Z</dcterms:modified>
</cp:coreProperties>
</file>